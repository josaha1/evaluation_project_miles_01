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Segoe UI"/>
              </a:defRPr>
            </a:pPr>
            <a:r>
              <a:t>ระบบประเมิน 360 องศา กนอ.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คู่มือการใช้งานระบบประเมินผลบุคลากร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78BFA"/>
                </a:solidFill>
                <a:latin typeface="Segoe UI"/>
              </a:defRPr>
            </a:pPr>
            <a:r>
              <a:t>การนิคมอุตสาหกรรมแห่งประเทศไทย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4114800"/>
            <a:ext cx="393192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60A5FA"/>
                </a:solidFill>
                <a:latin typeface="Segoe UI"/>
              </a:defRPr>
            </a:pPr>
            <a:r>
              <a:t>evaluation.milesconsult.com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จัดทำโดย Miles Consult  |  ปรับปรุง 22 มีนาคม 2569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ภาพรวมระบบ — การประเมิน 5 มุมมอง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ระบบประเมิน 360 องศาที่รองรับการประเมินจากหลายมุมมอง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Top-down (บนลงล่าง)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ผู้บังคับบัญชาประเมินผู้ใต้บังคับบัญชา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645920"/>
            <a:ext cx="201168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Bottom-up (ล่างขึ้นบน)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ผู้ใต้บังคับบัญชาประเมินผู้บังคับบัญชา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645920"/>
            <a:ext cx="201168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Left / Peer (ระดับเดียวกัน)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เพื่อนร่วมงานระดับเดียวกันประเมินกัน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45920"/>
            <a:ext cx="201168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Right / Cross (ข้ามสายงาน)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ประเมินข้ามหน่วยงาน + ผู้ประเมินภายนอก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645920"/>
            <a:ext cx="201168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Self (ประเมินตนเอง)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พนักงานประเมินผลงานตนเอง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Segoe UI"/>
              </a:defRPr>
            </a:pPr>
            <a:r>
              <a:t>กลุ่มผู้ถูกประเมิน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02336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กลุ่ม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ระดับ (Grade)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คำอธิบาย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ผู้ว่าการ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ผู้บริหารสูงสุด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ผู้บริหาร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9 – 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ผู้บริหารระดับสูง–กลาง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พนักงาน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4 – 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พนักงานทั่วไป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0" y="4023360"/>
            <a:ext cx="5029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ปีงบประมาณ (Fiscal Year)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ระบบใช้ปีงบไทย: ตุลาคม – กันยายน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ต.ค. 2568 – ก.ย. 2569 = ปีงบ 2569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Admin เลือกดูปีงบต่างๆ ได้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การเข้าสู่ระบบ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Segoe UI"/>
              </a:defRPr>
            </a:pPr>
            <a:r>
              <a:t>บุคลากรภายใน — /login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ฟิลด์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รายละเอียด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รหัสพนักงาน (emid)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ตัวเลข 6 หลัก เช่น 350101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รหัสผ่าน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รหัสผ่านส่วนตัว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บัญชีตัวอย่าง (Seeder)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474720"/>
          <a:ext cx="5486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1188720"/>
              </a:tblGrid>
              <a:tr h="3352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บทบาท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รหัสพนักงาน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ชื่อ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รหัสผ่าน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350101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ปคุณดา ชั้นบุญ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13112541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000000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อัฏฐพล นิติสุพรฯ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13112541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Segoe UI"/>
              </a:defRPr>
            </a:pPr>
            <a:r>
              <a:t>ผู้ประเมินภายนอก — /external/login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645920"/>
          <a:ext cx="5029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ฟิลด์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รายละเอียด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Access Code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รหัสที่ Admin สร้างให้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2560320"/>
            <a:ext cx="5029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คุณสมบัติ Access Code: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- ใช้ได้ครั้งเดียว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- มีวันหมดอายุ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- ผูกกับองค์กรภายนอก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- Admin สร้าง/เพิกถอน/สร้างใหม่ได้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54880"/>
            <a:ext cx="10972800" cy="7315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>
                <a:solidFill>
                  <a:srgbClr val="FBBF24"/>
                </a:solidFill>
                <a:latin typeface="Segoe UI"/>
              </a:defRPr>
            </a:pPr>
            <a:r>
              <a:t>หมายเหตุ: ในระบบจริง (Production) ข้อมูลผู้ใช้จะถูกนำเข้าจากฐานข้อมูลจริงของ กนอ. ไม่ใช่ข้อมูล Seeder  |  ป้องกัน Brute-force: ล็อกหลัง 5 ครั้ง/นาที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บทบาทผู้ใช้งาน 3 ประเภท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60A5FA"/>
                </a:solidFill>
                <a:latin typeface="Segoe UI"/>
              </a:defRPr>
            </a:pPr>
            <a:r>
              <a:t>User (ผู้ใช้ทั่วไป)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- ประเมินตนเอง</a:t>
            </a:r>
            <a:br/>
            <a:r>
              <a:t>- ประเมินผู้อื่นตามมอบหมาย</a:t>
            </a:r>
            <a:br/>
            <a:r>
              <a:t>- ดูสถานะการประเมิน</a:t>
            </a:r>
            <a:br/>
            <a:r>
              <a:t>- ทำแบบสำรวจความพึงพอใจ</a:t>
            </a:r>
            <a:br/>
            <a:r>
              <a:t>- แก้ไขโปรไฟล์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188720"/>
            <a:ext cx="34747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472B6"/>
                </a:solidFill>
                <a:latin typeface="Segoe UI"/>
              </a:defRPr>
            </a:pPr>
            <a:r>
              <a:t>Admin (ผู้ดูแลระบบ)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- จัดการผู้ใช้งาน (CRUD)</a:t>
            </a:r>
            <a:br/>
            <a:r>
              <a:t>- จัดการโครงสร้างองค์กร</a:t>
            </a:r>
            <a:br/>
            <a:r>
              <a:t>- สร้าง/จัดการแบบประเมิน</a:t>
            </a:r>
            <a:br/>
            <a:r>
              <a:t>- มอบหมายการประเมิน</a:t>
            </a:r>
            <a:br/>
            <a:r>
              <a:t>- จัดการ Access Code</a:t>
            </a:r>
            <a:br/>
            <a:r>
              <a:t>- ดูรายงาน +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188720"/>
            <a:ext cx="34747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External (ผู้ประเมินภายนอก)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- เข้าระบบด้วย Access Code</a:t>
            </a:r>
            <a:br/>
            <a:r>
              <a:t>- ยืนยันตัวตนและองค์กร</a:t>
            </a:r>
            <a:br/>
            <a:r>
              <a:t>- ทำแบบประเมินตามที่กำหนด</a:t>
            </a:r>
            <a:br/>
            <a:r>
              <a:t>- ประเมินได้ครั้งเดียว/Code</a:t>
            </a:r>
            <a:br/>
            <a:r>
              <a:t>- ไม่ต้องสมัครสมาชิก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11247120" cy="10972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การ Redirect หลัง Login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Admin  →  /dashboardadmin  (แดชบอร์ดผู้ดูแล)     |     User  →  /dashboard  (แดชบอร์ดผู้ใช้)     |     External  →  /external/confirm  (ยืนยันตัวตน)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ขั้นตอนการใช้งาน — ผู้ใช้ทั่วไป (User)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1. เข้าสู่ระบบ → แดชบอร์ด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Login (/login)  →  Dashboard (/dashboard)  →  ดูสถานะการประเมินทั้งหมด  |  รายชื่อผู้ที่ต้องประเมิน  |  Progress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2. ประเมินตนเอง (Self-Evaluation)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เลือก 'ประเมินตนเอง'  →  ตอบทีละขั้น (Step-by-step)  →  Auto-save ทุกข้อ  →  กลับมาทำต่อได้ (Resume)  →  กดส่ง (Submit)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3. ประเมินผู้อื่น (Assigned Evaluation)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เลือกผู้ถูกประเมิน  →  ดูข้อมูล (ชื่อ/ตำแหน่ง/หน่วยงาน)  →  ตอบคำถาม  →  Peer Comparison Widget  →  กดส่ง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4. แบบสำรวจความพึงพอใจ (8 ข้อ, คะแนน 1-5)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663440"/>
          <a:ext cx="9692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73152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ข้อ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หัวข้อ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ข้อ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หัวข้อ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ความพึงพอใจการใช้งาน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ความสะดวกในการเข้าถึง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ความง่ายในการใช้งาน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ความครบถ้วนของข้อมูล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ความเร็วในการตอบสนอง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ความเหมาะสมของเนื้อหา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ความถูกต้องของข้อมูล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ความพึงพอใจโดยรวม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ประเภทคำถามในแบบประเมิน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6576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ประเภท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คำอธิบาย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ตัวอย่าง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การบันทึก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เลือกคะแนน 1-5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ดีเยี่ยม(5) / ดี(4) / พอใช้(3) / ปรับปรุง(2) / ปรับปรุงมาก(1)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เก็บ option_id → 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Open Text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ตอบข้อความอิสระ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จุดเด่นในการทำงาน / ข้อเสนอแนะ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เก็บ text ใน value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Choice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เลือกตอบ 1 ข้อ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เลือกระดับที่เหมาะสมที่สุด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เก็บ option_id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Multiple Choice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เลือกได้หลายข้อ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เลือกทักษะที่โดดเด่น (เลือกได้มากกว่า 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เก็บ JSON array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Segoe UI"/>
              </a:defRPr>
            </a:pPr>
            <a:r>
              <a:t>ระดับคะแนน Rating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389120"/>
            <a:ext cx="20116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5 ดีเยี่ยม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389120"/>
            <a:ext cx="20116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4 ดี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4389120"/>
            <a:ext cx="20116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3 พอใช้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389120"/>
            <a:ext cx="20116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2 ปรับปรุง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4389120"/>
            <a:ext cx="20116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B7185"/>
                </a:solidFill>
                <a:latin typeface="Segoe UI"/>
              </a:defRPr>
            </a:pPr>
            <a:r>
              <a:t>1 ปรับปรุงมาก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10972800" cy="7315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500">
                <a:solidFill>
                  <a:srgbClr val="FBBF24"/>
                </a:solidFill>
                <a:latin typeface="Segoe UI"/>
              </a:defRPr>
            </a:pPr>
            <a:r>
              <a:t>ระบบ Auto-save ทุกข้อ  |  สามารถกลับมาทำต่อได้ (Resume)  |  ป้องกันการส่งซ้ำด้วย Unique 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Admin Dashboard — /dashboardadmin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ภาพรวมระบบสำหรับผู้ดูแล — เลือกปีงบประมาณได้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97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700" b="1">
                <a:solidFill>
                  <a:srgbClr val="60A5FA"/>
                </a:solidFill>
                <a:latin typeface="Segoe UI"/>
              </a:defRPr>
            </a:pPr>
            <a:r>
              <a:t>จำนวนผู้ใช้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พนักงาน + Admin ทั้งหมด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463040"/>
            <a:ext cx="2697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การมอบหมาย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จำนวนทั้งหมด / ผู้ประเมิน / ผู้ถูกประเมิน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2697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700" b="1">
                <a:solidFill>
                  <a:srgbClr val="34D399"/>
                </a:solidFill>
                <a:latin typeface="Segoe UI"/>
              </a:defRPr>
            </a:pPr>
            <a:r>
              <a:t>อัตราเสร็จสิ้น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% ผู้ที่ทำประเมินเสร็จแล้ว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463040"/>
            <a:ext cx="2697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700" b="1">
                <a:solidFill>
                  <a:srgbClr val="FBBF24"/>
                </a:solidFill>
                <a:latin typeface="Segoe UI"/>
              </a:defRPr>
            </a:pPr>
            <a:r>
              <a:t>แบบประเมิน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จำนวนที่เผยแพร่แล้ว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2697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700" b="1">
                <a:solidFill>
                  <a:srgbClr val="FB7185"/>
                </a:solidFill>
                <a:latin typeface="Segoe UI"/>
              </a:defRPr>
            </a:pPr>
            <a:r>
              <a:t>สถิติตามระดับ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ผู้ว่าการ / ผู้บริหาร / พนักงาน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3474720"/>
            <a:ext cx="2697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700" b="1">
                <a:solidFill>
                  <a:srgbClr val="60A5FA"/>
                </a:solidFill>
                <a:latin typeface="Segoe UI"/>
              </a:defRPr>
            </a:pPr>
            <a:r>
              <a:t>สถิติตามมุมประเมิน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top / bottom / left /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2697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700" b="1">
                <a:solidFill>
                  <a:srgbClr val="34D399"/>
                </a:solidFill>
                <a:latin typeface="Segoe UI"/>
              </a:defRPr>
            </a:pPr>
            <a:r>
              <a:t>ผู้ประเมินภายนอก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Access Code ทั้งหมด / ที่ใช้แล้ว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3474720"/>
            <a:ext cx="2697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ผลองค์กรภายนอก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คะแนนเฉลี่ยแยกตามองค์กร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Admin — จัดการผู้ใช้ &amp; โครงสร้างองค์กร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จัดการผู้ใช้ — /admin/users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201168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การดำเนินการ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คำอธิบาย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ดูรายชื่อ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/admin/users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ค้นหา, กรองตามหน่วยงาน/ระดับ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เพิ่มผู้ใช้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/admin/users/create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กรอกรหัส, ชื่อ, สังกัด, ระดับ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แก้ไขผู้ใช้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/admin/users/{id}/edit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แก้ไขข้อมูลทั้งหมดรวมบทบาท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ลบผู้ใช้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ปุ่มลบ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ลบพร้อมข้อมูลที่เกี่ยวข้อง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โครงสร้างองค์กร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64592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155448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ระดับ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ภาษาไทย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Division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/admin/divisions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สายงาน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/admin/departments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หน่วยงาน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/admin/positions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ตำแหน่ง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/admin/factions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ฝ่าย (ข้ามสายงาน)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ลำดับชั้นองค์กร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80560"/>
            <a:ext cx="5029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60A5FA"/>
                </a:solidFill>
                <a:latin typeface="Consolas"/>
              </a:defRPr>
            </a:pPr>
            <a:r>
              <a:t>สายงาน (Division)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500" b="0">
                <a:solidFill>
                  <a:srgbClr val="A78BFA"/>
                </a:solidFill>
                <a:latin typeface="Consolas"/>
              </a:defRPr>
            </a:pPr>
            <a:r>
              <a:t>  └── หน่วยงาน (Department)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500" b="0">
                <a:solidFill>
                  <a:srgbClr val="34D399"/>
                </a:solidFill>
                <a:latin typeface="Consolas"/>
              </a:defRPr>
            </a:pPr>
            <a:r>
              <a:t>        └── ตำแหน่ง (Position)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800" b="0">
                <a:solidFill>
                  <a:srgbClr val="F1F5F9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spcAft>
                <a:spcPts val="0"/>
              </a:spcAft>
              <a:defRPr sz="1500" b="0">
                <a:solidFill>
                  <a:srgbClr val="FBBF24"/>
                </a:solidFill>
                <a:latin typeface="Consolas"/>
              </a:defRPr>
            </a:pPr>
            <a:r>
              <a:t>ฝ่าย (Faction) — อิสระจากลำดับชั้น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ฟิลด์ผู้ใช้ที่สำคัญ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480560"/>
            <a:ext cx="54864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spcBef>
                <a:spcPts val="3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emid — รหัสพนักงาน (ไม่ซ้ำ, 6 หลัก)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prename / fname / lname — คำนำหน้า/ชื่อ/นามสกุล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division / department / position / faction — สังกัด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grade — ระดับ (4-13)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role — บทบาท (user / admin)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user_type — ประเภท (internal / external)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Admin — จัดการแบบประเมิน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โครงสร้างแบบประเมิน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64008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Bef>
                <a:spcPts val="100"/>
              </a:spcBef>
              <a:defRPr sz="1200">
                <a:solidFill>
                  <a:srgbClr val="60A5FA"/>
                </a:solidFill>
                <a:latin typeface="Consolas"/>
              </a:defRPr>
            </a:pPr>
            <a:r>
              <a:t>แบบประเมิน (Evaluation)  ← /evaluations</a:t>
            </a:r>
          </a:p>
          <a:p>
            <a:pPr>
              <a:spcBef>
                <a:spcPts val="100"/>
              </a:spcBef>
              <a:defRPr sz="1200">
                <a:solidFill>
                  <a:srgbClr val="A78BFA"/>
                </a:solidFill>
                <a:latin typeface="Consolas"/>
              </a:defRPr>
            </a:pPr>
            <a:r>
              <a:t>├── ส่วนที่ 1 (Part)  ← .../parts</a:t>
            </a:r>
          </a:p>
          <a:p>
            <a:pPr>
              <a:spcBef>
                <a:spcPts val="100"/>
              </a:spcBef>
              <a:defRPr sz="1200">
                <a:solidFill>
                  <a:srgbClr val="34D399"/>
                </a:solidFill>
                <a:latin typeface="Consolas"/>
              </a:defRPr>
            </a:pPr>
            <a:r>
              <a:t>│   ├── ด้านที่ 1 (Aspect)  ← .../aspects</a:t>
            </a:r>
          </a:p>
          <a:p>
            <a:pPr>
              <a:spcBef>
                <a:spcPts val="100"/>
              </a:spcBef>
              <a:defRPr sz="1200">
                <a:solidFill>
                  <a:srgbClr val="CBD5E1"/>
                </a:solidFill>
                <a:latin typeface="Consolas"/>
              </a:defRPr>
            </a:pPr>
            <a:r>
              <a:t>│   │   ├── คำถาม 1 (Rating 1-5)</a:t>
            </a:r>
          </a:p>
          <a:p>
            <a:pPr>
              <a:spcBef>
                <a:spcPts val="100"/>
              </a:spcBef>
              <a:defRPr sz="1200">
                <a:solidFill>
                  <a:srgbClr val="CBD5E1"/>
                </a:solidFill>
                <a:latin typeface="Consolas"/>
              </a:defRPr>
            </a:pPr>
            <a:r>
              <a:t>│   │   └── คำถาม 2 (Open Text)</a:t>
            </a:r>
          </a:p>
          <a:p>
            <a:pPr>
              <a:spcBef>
                <a:spcPts val="100"/>
              </a:spcBef>
              <a:defRPr sz="1200">
                <a:solidFill>
                  <a:srgbClr val="34D399"/>
                </a:solidFill>
                <a:latin typeface="Consolas"/>
              </a:defRPr>
            </a:pPr>
            <a:r>
              <a:t>│   └── ด้านที่ 2 (มี Sub-aspects)</a:t>
            </a:r>
          </a:p>
          <a:p>
            <a:pPr>
              <a:spcBef>
                <a:spcPts val="100"/>
              </a:spcBef>
              <a:defRPr sz="1200">
                <a:solidFill>
                  <a:srgbClr val="FBBF24"/>
                </a:solidFill>
                <a:latin typeface="Consolas"/>
              </a:defRPr>
            </a:pPr>
            <a:r>
              <a:t>│       ├── ด้านย่อย 2.1  ← .../subaspects</a:t>
            </a:r>
          </a:p>
          <a:p>
            <a:pPr>
              <a:spcBef>
                <a:spcPts val="100"/>
              </a:spcBef>
              <a:defRPr sz="1200">
                <a:solidFill>
                  <a:srgbClr val="CBD5E1"/>
                </a:solidFill>
                <a:latin typeface="Consolas"/>
              </a:defRPr>
            </a:pPr>
            <a:r>
              <a:t>│       │   └── คำถาม 3 (Choice)</a:t>
            </a:r>
          </a:p>
          <a:p>
            <a:pPr>
              <a:spcBef>
                <a:spcPts val="100"/>
              </a:spcBef>
              <a:defRPr sz="1200">
                <a:solidFill>
                  <a:srgbClr val="FBBF24"/>
                </a:solidFill>
                <a:latin typeface="Consolas"/>
              </a:defRPr>
            </a:pPr>
            <a:r>
              <a:t>│       └── ด้านย่อย 2.2</a:t>
            </a:r>
          </a:p>
          <a:p>
            <a:pPr>
              <a:spcBef>
                <a:spcPts val="100"/>
              </a:spcBef>
              <a:defRPr sz="1200">
                <a:solidFill>
                  <a:srgbClr val="CBD5E1"/>
                </a:solidFill>
                <a:latin typeface="Consolas"/>
              </a:defRPr>
            </a:pPr>
            <a:r>
              <a:t>│           └── คำถาม 4 (Multiple Choice)</a:t>
            </a:r>
          </a:p>
          <a:p>
            <a:pPr>
              <a:spcBef>
                <a:spcPts val="100"/>
              </a:spcBef>
              <a:defRPr sz="1200">
                <a:solidFill>
                  <a:srgbClr val="A78BFA"/>
                </a:solidFill>
                <a:latin typeface="Consolas"/>
              </a:defRPr>
            </a:pPr>
            <a:r>
              <a:t>└── ส่วนที่ 2 (Part)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005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สถานะแบบประเมิน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41148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>
                <a:solidFill>
                  <a:srgbClr val="60A5FA"/>
                </a:solidFill>
                <a:latin typeface="Segoe UI"/>
              </a:defRPr>
            </a:pPr>
            <a:r>
              <a:t>Draft  —  สร้าง/แก้ไข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194560"/>
            <a:ext cx="41148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>
                <a:solidFill>
                  <a:srgbClr val="A78BFA"/>
                </a:solidFill>
                <a:latin typeface="Segoe UI"/>
              </a:defRPr>
            </a:pPr>
            <a:r>
              <a:t>Preview  —  ดูตัวอย่าง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834639"/>
            <a:ext cx="41148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>
                <a:solidFill>
                  <a:srgbClr val="34D399"/>
                </a:solidFill>
                <a:latin typeface="Segoe UI"/>
              </a:defRPr>
            </a:pPr>
            <a:r>
              <a:t>Published  —  เผยแพร่ใช้งาน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474720"/>
            <a:ext cx="41148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>
                <a:solidFill>
                  <a:srgbClr val="FBBF24"/>
                </a:solidFill>
                <a:latin typeface="Segoe UI"/>
              </a:defRPr>
            </a:pPr>
            <a:r>
              <a:t>Inactive  —  ปิดใช้งาน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การจัดการ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8463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หน้า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การดำเนินการ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รายการแบบประเมิน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/evaluations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สร้าง / แก้ไข / ลบ / Preview / Publish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จัดการส่วน (Part)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/evaluations/{id}/parts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สร้าง / แก้ไข / ลบ / เรียงลำดับ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จัดการด้าน (Aspect)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.../aspects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สร้าง / แก้ไข / ลบ / กำหนด Sub-aspects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จัดการคำถาม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.../questions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สร้าง / แก้ไข / ลบ / สร้าง Options +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Admin — มอบหมายการประเมิน &amp; Access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มอบหมายการประเมิน — /admin/assignments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</a:tblGrid>
              <a:tr h="381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การดำเนินการ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คำอธิบาย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สร้างรายบุคคล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เลือก ผู้ประเมิน → ผู้ถูกประเมิน → มุม → ปีงบ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สร้างจำนวนมาก (Bulk)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สร้างหลายรายการพร้อมกัน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แก้ไข / ลบ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ทั้งรายบุคคลและ Bulk Delete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Analytics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สถิติภาพรวมการมอบหมาย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Export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ส่งออกข้อมูลการมอบหมาย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มุมการประเมิน (Angle)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64592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2286000"/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มุม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ความหมาย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ตัวอย่าง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top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บนลงล่าง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หัวหน้า → ลูกน้อง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bottom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ล่างขึ้นบน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ลูกน้อง → หัวหน้า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left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ระดับเดียวกัน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เพื่อนร่วมงาน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right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ข้ามสายงาน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ต่างหน่วยงาน/ภายนอก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จัดการ Access Code — /admin/access-codes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75488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335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การดำเนินการ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คำอธิบาย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Generate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สร้าง Code — เลือกองค์กร, ผู้ถูกประเมิน, แบบประเมิน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Revoke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เพิกถอน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Regenerate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สร้าง Code ใหม่ทดแทน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ส่งออกรายการ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Print Cards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พิมพ์บัตร Access Code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องค์กรภายนอก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754880"/>
            <a:ext cx="5029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60A5FA"/>
                </a:solidFill>
                <a:latin typeface="Consolas"/>
              </a:defRPr>
            </a:pPr>
            <a:r>
              <a:t>/admin/external-organizations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• สร้าง / แก้ไข / ลบองค์กร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• กำหนดรหัสองค์กร (org_code)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• เปิด/ปิดสถานะ (is_active)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• ใช้ร่วมกับ Access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Admin — รายงานและ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URL: /admin/reports/evaluation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ประเภทรายงาน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รายละเอียด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รูปแบบ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รายงานรวม ผู้บริหาร+พนักงาน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ครบทั้ง Grade 9-12 และ 5-8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รายงานผู้บริหาร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เฉพาะ Grade 9-12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รายงานพนักงาน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เฉพาะ Grade 5-8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รายงานประเมินตนเอง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ผลการประเมินตนเอง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รายงานผู้ว่าการ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ระดับ 13 + Weighted Scoring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รายงานองค์กรภายนอก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ผลจากผู้ประเมินภายนอก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รายงานรายบุคคล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คะแนนเฉพาะบุคคล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Excel / PDF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รายงานเปรียบเทียบ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เปรียบเทียบระหว่างบุคคล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ข้อมูลดิบ (Raw Data)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คำตอบดิบทั้งหมด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เครื่องมือวิเคราะห์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920240"/>
            <a:ext cx="34747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Individual Angle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423160"/>
            <a:ext cx="34747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Assignment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926080"/>
            <a:ext cx="34747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Completion Stats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429000"/>
            <a:ext cx="34747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Evaluatee Details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3931920"/>
            <a:ext cx="34747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System 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434840"/>
            <a:ext cx="34747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Clear Cache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937760"/>
            <a:ext cx="34747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Real-time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5440680"/>
            <a:ext cx="34747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Dashboard Data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ขั้นตอน — ผู้ประเมินภายนอก (External)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737360" cy="12801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800" b="1">
                <a:solidFill>
                  <a:srgbClr val="60A5FA"/>
                </a:solidFill>
                <a:latin typeface="Segoe UI"/>
              </a:defRPr>
            </a:pPr>
            <a:r>
              <a:t>1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Admin สร้าง</a:t>
            </a:r>
            <a:br/>
            <a:r>
              <a:t>Access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188720"/>
            <a:ext cx="1737360" cy="12801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800" b="1">
                <a:solidFill>
                  <a:srgbClr val="60A5FA"/>
                </a:solidFill>
                <a:latin typeface="Segoe UI"/>
              </a:defRPr>
            </a:pPr>
            <a:r>
              <a:t>2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ส่ง Code ให้</a:t>
            </a:r>
            <a:br/>
            <a:r>
              <a:t>ผู้ประเมินภายนอก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1737360" cy="128016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800" b="1">
                <a:solidFill>
                  <a:srgbClr val="60A5FA"/>
                </a:solidFill>
                <a:latin typeface="Segoe UI"/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Login ด้วย Code</a:t>
            </a:r>
            <a:br/>
            <a:r>
              <a:t>/external/login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1737360" cy="128016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800" b="1">
                <a:solidFill>
                  <a:srgbClr val="60A5FA"/>
                </a:solidFill>
                <a:latin typeface="Segoe UI"/>
              </a:defRPr>
            </a:pPr>
            <a:r>
              <a:t>4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ยืนยันตัวตน</a:t>
            </a:r>
            <a:br/>
            <a:r>
              <a:t>/external/confirm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1737360" cy="128016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800" b="1">
                <a:solidFill>
                  <a:srgbClr val="60A5FA"/>
                </a:solidFill>
                <a:latin typeface="Segoe UI"/>
              </a:defRPr>
            </a:pPr>
            <a:r>
              <a:t>5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ทำแบบประเมิน</a:t>
            </a:r>
            <a:br/>
            <a:r>
              <a:t>/external/evaluate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188720"/>
            <a:ext cx="1737360" cy="128016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800" b="1">
                <a:solidFill>
                  <a:srgbClr val="60A5FA"/>
                </a:solidFill>
                <a:latin typeface="Segoe UI"/>
              </a:defRPr>
            </a:pPr>
            <a:r>
              <a:t>6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ส่ง → ขอบคุณ</a:t>
            </a:r>
            <a:br/>
            <a:r>
              <a:t>/external/thank-you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Segoe UI"/>
              </a:defRPr>
            </a:pPr>
            <a:r>
              <a:t>หน้าจอผู้ประเมินภายนอก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4747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3200400"/>
                <a:gridCol w="4572000"/>
              </a:tblGrid>
              <a:tr h="381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ลำดับ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หน้า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คำอธิบาย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เข้าสู่ระบบ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/external/login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กรอก Access Code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ยืนยันตัวตน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/external/confirm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ยืนยันชื่อและองค์กร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แดชบอร์ด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/external/dashboard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ดูข้อมูลผู้ถูกประเมิน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ทำแบบประเมิน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/external/evaluate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ตอบคำถามประเมิน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ขอบคุณ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/external/thank-you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ส่งสำเร็จ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943600"/>
            <a:ext cx="10972800" cy="5486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>
                <a:solidFill>
                  <a:srgbClr val="FBBF24"/>
                </a:solidFill>
                <a:latin typeface="Segoe UI"/>
              </a:defRPr>
            </a:pPr>
            <a:r>
              <a:t>Access Code ใช้ได้ครั้งเดียว  |  มีวันหมดอายุ  |  ต้องผูกกับองค์กรที่ active  |  Rate limit: 5 ครั้ง/นาที (login), 10 ครั้ง/นาที (submit)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การคำนวณคะแนน — Weighted Scoring (ผู้ว่าการ)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น้ำหนักมุมผู้ประเมิน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</a:tblGrid>
              <a:tr h="381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มุมประเมิน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น้ำหนัก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Top (บนลงล่าง)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Bottom (ล่างขึ้นบน)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Left (ระดับเดียวกัน)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Right (ข้ามสายงาน)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Self (ตนเอง)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น้ำหนักเกณฑ์ประเมิน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สมรรถนะ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น้ำหนัก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ภาวะผู้นำ (Leadership)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วิสัยทัศน์ (Vision)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การสื่อสาร (Communication)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นวัตกรรม (Innovation)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จริยธรรม (Ethics)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ทำงานเป็นทีม (Teamwork)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วิธีคำนวณ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10972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Bef>
                <a:spcPts val="4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1. คะแนนดิบ: คำนวณค่าเฉลี่ยของคะแนนทุกคำถามในแต่ละด้าน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2. คะแนนถ่วงน้ำหนักด้าน: คูณค่าเฉลี่ยด้วยน้ำหนักของแต่ละด้าน (เช่น Leadership 30%)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3. คะแนนถ่วงน้ำหนักมุม: รวมคะแนนจากทุกมุมตามน้ำหนัก (เช่น Top 25%, Bottom 25%)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4. คะแนนรวม: ผลรวมคะแนนถ่วงน้ำหนักทั้งหมด → คะแนนสุดท้ายของผู้ถูกประเมิน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ข้อมูล Server และการดูแลระบบ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ข้อมูลเชื่อมต่อ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รายการ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ค่า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Hostinger Cloud Enterprise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evaluation.milesconsult.com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SSH IP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156.67.209.215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SSH 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65002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Username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u917560495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SSH Auth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SSH Key (~/.ssh/hostinger_deploy)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ข้อมูล Database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รายการ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ค่า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localhost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u917560495_milesconsultdb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Username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u917560495_jo_evaluation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phpMyAdmin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Hostinger Panel → 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SSH 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114800"/>
            <a:ext cx="5029200" cy="7315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200">
                <a:solidFill>
                  <a:srgbClr val="34D399"/>
                </a:solidFill>
                <a:latin typeface="Consolas"/>
              </a:defRPr>
            </a:pPr>
            <a:r>
              <a:t>ssh -i ~/.ssh/hostinger_deploy \</a:t>
            </a:r>
            <a:br/>
            <a:r>
              <a:t>  -p 65002 u917560495@156.67.209.215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คำสั่งที่ใช้บ่อย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46320"/>
            <a:ext cx="5303520" cy="16459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94A3B8"/>
                </a:solidFill>
                <a:latin typeface="Consolas"/>
              </a:defRPr>
            </a:pPr>
            <a:r>
              <a:t># เข้าโปรเจค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t>cd domains/evaluation.milesconsult.com/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t>   laravel_project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# ดู Log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t>tail -50 storage/logs/laravel.log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t>tail -f storage/logs/laravel.log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846320"/>
            <a:ext cx="5303520" cy="16459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94A3B8"/>
                </a:solidFill>
                <a:latin typeface="Consolas"/>
              </a:defRPr>
            </a:pPr>
            <a:r>
              <a:t># ล้าง Cache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t>php artisan cache:clear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t>php artisan config:cache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t>php artisan route:cache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t>php artisan view:cache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# ตรวจ Migration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t>php artisan migrate:status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0A5FA"/>
                </a:solidFill>
                <a:latin typeface="Segoe UI"/>
              </a:defRPr>
            </a:pPr>
            <a:r>
              <a:t>การแก้ไขปัญหาเบื้องต้น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118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600" b="1">
                <a:solidFill>
                  <a:srgbClr val="FB7185"/>
                </a:solidFill>
                <a:latin typeface="Segoe UI"/>
              </a:defRPr>
            </a:pPr>
            <a:r>
              <a:t>500 Error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tail -50 storage/logs/laravel.log</a:t>
            </a:r>
            <a:br/>
            <a:r>
              <a:t>chmod -R 755 storage bootstrap/cache</a:t>
            </a:r>
            <a:br/>
            <a:r>
              <a:t>php artisan config:clear</a:t>
            </a:r>
            <a:br/>
            <a:r>
              <a:t>php artisan cache:clear</a:t>
            </a:r>
            <a:br/>
            <a:r>
              <a:t>php artisan config:cache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097280"/>
            <a:ext cx="36118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หน้าขาว / ไม่มี CSS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ls public_html/build/manifest.json</a:t>
            </a:r>
            <a:br/>
            <a:r>
              <a:t>rm -f public_html/hot</a:t>
            </a:r>
            <a:br/>
            <a:br/>
            <a:r>
              <a:t>→ ถ้าไม่มี manifest: ต้อง build + deploy ใหม่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097280"/>
            <a:ext cx="36118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เข้าสู่ระบบไม่ได้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• ตรวจรหัส 6 หลัก</a:t>
            </a:r>
            <a:br/>
            <a:r>
              <a:t>• ตรวจรหัสผ่าน</a:t>
            </a:r>
            <a:br/>
            <a:r>
              <a:t>• หากพยายาม &gt; 5 ครั้ง → รอ 1 นาที</a:t>
            </a:r>
            <a:br/>
            <a:r>
              <a:t>• ติดต่อ Admin reset password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36118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600" b="1">
                <a:solidFill>
                  <a:srgbClr val="60A5FA"/>
                </a:solidFill>
                <a:latin typeface="Segoe UI"/>
              </a:defRPr>
            </a:pPr>
            <a:r>
              <a:t>Access Code ไม่ทำงาน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• ตรวจพิมพ์ถูกต้อง</a:t>
            </a:r>
            <a:br/>
            <a:r>
              <a:t>• Code ใช้ได้ครั้งเดียว</a:t>
            </a:r>
            <a:br/>
            <a:r>
              <a:t>• ตรวจวันหมดอายุ</a:t>
            </a:r>
            <a:br/>
            <a:r>
              <a:t>• ตรวจองค์กร active</a:t>
            </a:r>
            <a:br/>
            <a:r>
              <a:t>• ติดต่อ Admin regenerate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3840480"/>
            <a:ext cx="36118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Database Error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php artisan migrate:status</a:t>
            </a:r>
            <a:br/>
            <a:r>
              <a:t>ตรวจ .env → DB_HOST, DB_DATABASE</a:t>
            </a:r>
            <a:br/>
            <a:r>
              <a:t>php artisan tinker → DB::connection()-&gt;getPdo()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840480"/>
            <a:ext cx="36118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Composer Error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rm -rf vendor</a:t>
            </a:r>
            <a:br/>
            <a:r>
              <a:t>composer install --no-dev</a:t>
            </a:r>
            <a:br/>
            <a:r>
              <a:t>  --optimize-autoloader</a:t>
            </a:r>
            <a:br/>
            <a:r>
              <a:t>  --no-interaction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0A5FA"/>
                </a:solidFill>
                <a:latin typeface="Segoe UI"/>
              </a:defRPr>
            </a:pPr>
            <a:r>
              <a:t>สรุป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1440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>
                <a:solidFill>
                  <a:srgbClr val="34D399"/>
                </a:solidFill>
                <a:latin typeface="Segoe UI"/>
              </a:defRPr>
            </a:pPr>
            <a:r>
              <a:t>  ระบบประเมิน 360 องศา — 5 มุมประเมิน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148840"/>
            <a:ext cx="91440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>
                <a:solidFill>
                  <a:srgbClr val="60A5FA"/>
                </a:solidFill>
                <a:latin typeface="Segoe UI"/>
              </a:defRPr>
            </a:pPr>
            <a:r>
              <a:t>  3 บทบาท: User, Admin, External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651760"/>
            <a:ext cx="91440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>
                <a:solidFill>
                  <a:srgbClr val="A78BFA"/>
                </a:solidFill>
                <a:latin typeface="Segoe UI"/>
              </a:defRPr>
            </a:pPr>
            <a:r>
              <a:t>  โครงสร้างแบบประเมินแบบลำดับชั้น (Evaluation → Part → Aspect → Question)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154680"/>
            <a:ext cx="91440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>
                <a:solidFill>
                  <a:srgbClr val="FBBF24"/>
                </a:solidFill>
                <a:latin typeface="Segoe UI"/>
              </a:defRPr>
            </a:pPr>
            <a:r>
              <a:t>  Weighted Scoring สำหรับผู้ว่าการ (Grade 13)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657600"/>
            <a:ext cx="91440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>
                <a:solidFill>
                  <a:srgbClr val="34D399"/>
                </a:solidFill>
                <a:latin typeface="Segoe UI"/>
              </a:defRPr>
            </a:pPr>
            <a:r>
              <a:t>  Export รายงาน Excel/PDF หลายรูปแบบ (10+ ประเภท)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1440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>
                <a:solidFill>
                  <a:srgbClr val="60A5FA"/>
                </a:solidFill>
                <a:latin typeface="Segoe UI"/>
              </a:defRPr>
            </a:pPr>
            <a:r>
              <a:t>  ระบบ Access Code สำหรับผู้ประเมินภายนอก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663440"/>
            <a:ext cx="91440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>
                <a:solidFill>
                  <a:srgbClr val="A78BFA"/>
                </a:solidFill>
                <a:latin typeface="Segoe UI"/>
              </a:defRPr>
            </a:pPr>
            <a:r>
              <a:t>  รองรับหลายปีงบประมาณ (Fiscal Year Selector)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166360"/>
            <a:ext cx="91440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>
                <a:solidFill>
                  <a:srgbClr val="FBBF24"/>
                </a:solidFill>
                <a:latin typeface="Segoe UI"/>
              </a:defRPr>
            </a:pPr>
            <a:r>
              <a:t>  Hosted บน Hostinger Cloud Enterprise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486400"/>
            <a:ext cx="393192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0A5FA"/>
                </a:solidFill>
                <a:latin typeface="Segoe UI"/>
              </a:defRPr>
            </a:pPr>
            <a:r>
              <a:t>evaluation.milesconsult.com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Miles Consult  |  2569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